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B4CC-D8D5-6543-48B2-8F0C982A7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73BE9-0E31-54E1-B7D2-C86298B0C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2941C-85A2-34CD-66E2-3EAB6EFB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DB3F0-BC8A-3533-0C3B-FE3634FD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CBA6-621B-188B-A20C-8C5EDDC2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8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137DA-EF67-7BEB-F801-F7BD1626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64BE-8A31-82A4-C947-F4F70ADEE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9016-3D2A-E9E8-E737-84BE33E0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D41CB-BBBE-E693-A19B-57329E88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555F8-CAF7-0C8A-E2BB-6332E9C8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6F13-C328-89AB-6593-9C32101C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A3265-62C6-FA77-A2BC-6F30E3E12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6AFFF-AFF3-667E-D463-B615E305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F4C2-4609-10FD-CB19-68C3C507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D50E2-D96D-203E-26A6-FEC725BA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2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432AF-31B2-66AD-8F08-31E6475FA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B656A-6421-4FEE-5E02-B95A5752A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73B1B-5F5B-C09B-2548-872DB8C04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71322-2221-7C5A-28B0-69B05946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2847A-594A-5A6C-4B87-80155136D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8EB41-C027-30CC-CCDB-04380C65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7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54D6A-A50D-145C-8808-AD612DBF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60F16-2005-D118-3F1B-CA289AB5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EBD43-8B75-07F3-C23C-C6E6C66F3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A33A2-AF1D-D1A8-D6AF-C3D43DA81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A0E3A-B1C2-9B6C-70F3-38F2BE535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4029C-C246-6D09-54F0-DB4F887A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2B5EE-4BDB-E2E2-C045-C98B9AED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89B2F-1935-99D8-E84B-29650B46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77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644E-6507-F490-4547-AE0CBF29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0E157-3979-AEC8-DDA6-B1DEBC27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0CEA0-0894-6083-C536-B30C5142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D8B86-43E3-4051-F480-B8F56BED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4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EC3D9-730A-0081-44B9-C7E497AC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1D6EA-92E6-F7F7-62FD-2B94C632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48BA9-553C-A271-179B-C06283CBE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2969-0E84-2CF0-CEBC-5865C5AF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EFD7-7583-1EA5-0216-9A80BCBA0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278EF-821C-1107-394A-B9E1A5DB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D661C-8B20-2011-9264-7FB4511F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52694-DB6C-3FD9-02D3-CFFBC410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E14FF-FE51-BC3B-02B8-EC435FEF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4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F6A6-7C68-19E9-C1EB-9DE9E6CB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615EE-DEA1-D7B0-461C-1C9A84124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B757E-D5BE-2AC3-C814-418AA74E0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9099D-D582-D50A-9ACB-439ECC87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15B4F-5F66-DC89-99AD-D9C8B3A66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BA1A0-FA94-D171-3393-96E15544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6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FF01C-12BB-4DA3-3E47-0B43903E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AE8C7-4E9B-9946-CAD1-1B9ADDA31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20673-8753-BF61-4881-F775A5D4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45A5F-0BD7-E3E4-527A-FBF815E8E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1B81B-E718-3CC6-ED56-59FC2EAF8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19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8E965C-59E2-285C-70C2-6B2B7B807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D7495-4303-52CD-A05E-86225AC82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75E94-B58D-EC69-E38B-4FFE098E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791FA-17EC-6A13-5AE4-4DA8CF85D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B5346-41D6-4BCC-A462-7930ECE0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5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A5FA8-9FDA-87E3-0819-2FE44092C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98907-39D8-9EC9-A588-3EC14348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CD514-7EED-3628-C236-7AC5F9927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137FE-9983-436B-809D-C7B38506273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42BC7-60EB-4F82-9880-873CB23AA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5E5C9-7AF7-907E-A45D-0900476C3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D3D1D-4C36-4922-BD0F-B4944B790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4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D68E-52AE-4A84-9752-88473740F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1" dirty="0" err="1"/>
              <a:t>Predictia</a:t>
            </a:r>
            <a:r>
              <a:rPr lang="en-US" b="1" dirty="0"/>
              <a:t> </a:t>
            </a:r>
            <a:r>
              <a:rPr lang="en-US" b="1" dirty="0" err="1"/>
              <a:t>popularitatii</a:t>
            </a:r>
            <a:r>
              <a:rPr lang="en-US" b="1" dirty="0"/>
              <a:t> </a:t>
            </a:r>
            <a:r>
              <a:rPr lang="en-US" b="1" dirty="0" err="1"/>
              <a:t>cartilor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8CEC3-A805-B2B5-F438-BF1B17D48C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Puscasu Ana-Maria</a:t>
            </a:r>
          </a:p>
          <a:p>
            <a:r>
              <a:rPr lang="en-US" dirty="0"/>
              <a:t>Stan Maria-Emma</a:t>
            </a:r>
          </a:p>
        </p:txBody>
      </p:sp>
    </p:spTree>
    <p:extLst>
      <p:ext uri="{BB962C8B-B14F-4D97-AF65-F5344CB8AC3E}">
        <p14:creationId xmlns:p14="http://schemas.microsoft.com/office/powerpoint/2010/main" val="3340899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145D-5761-FC76-64B5-4C4A927F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Descriere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BD85D-980F-BD66-DE46-C422D6476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32"/>
            <a:ext cx="10515600" cy="4717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Se </a:t>
            </a:r>
            <a:r>
              <a:rPr lang="en-US" dirty="0" err="1"/>
              <a:t>dorește</a:t>
            </a:r>
            <a:r>
              <a:rPr lang="en-US" dirty="0"/>
              <a:t> </a:t>
            </a:r>
            <a:r>
              <a:rPr lang="en-US" dirty="0" err="1"/>
              <a:t>construirea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dataset </a:t>
            </a:r>
            <a:r>
              <a:rPr lang="en-US" dirty="0" err="1"/>
              <a:t>propriu</a:t>
            </a:r>
            <a:r>
              <a:rPr lang="en-US" dirty="0"/>
              <a:t>, </a:t>
            </a:r>
            <a:r>
              <a:rPr lang="en-US" dirty="0" err="1"/>
              <a:t>folosind</a:t>
            </a:r>
            <a:r>
              <a:rPr lang="en-US" dirty="0"/>
              <a:t> date din </a:t>
            </a:r>
            <a:r>
              <a:rPr lang="en-US" dirty="0" err="1"/>
              <a:t>OpenLibrary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analiză</a:t>
            </a:r>
            <a:r>
              <a:rPr lang="en-US" dirty="0"/>
              <a:t> </a:t>
            </a:r>
            <a:r>
              <a:rPr lang="en-US" dirty="0" err="1"/>
              <a:t>exploratorie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modelare</a:t>
            </a:r>
            <a:r>
              <a:rPr lang="en-US" dirty="0"/>
              <a:t> AI.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Scopul</a:t>
            </a:r>
            <a:r>
              <a:rPr lang="en-US" dirty="0"/>
              <a:t> principal </a:t>
            </a:r>
            <a:r>
              <a:rPr lang="en-US" dirty="0" err="1"/>
              <a:t>este</a:t>
            </a:r>
            <a:r>
              <a:rPr lang="en-US" dirty="0"/>
              <a:t> de a </a:t>
            </a:r>
            <a:r>
              <a:rPr lang="en-US" dirty="0" err="1"/>
              <a:t>prezice</a:t>
            </a:r>
            <a:r>
              <a:rPr lang="en-US" dirty="0"/>
              <a:t> </a:t>
            </a:r>
            <a:r>
              <a:rPr lang="en-US" dirty="0" err="1"/>
              <a:t>ratingul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al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cărți</a:t>
            </a:r>
            <a:r>
              <a:rPr lang="en-US" dirty="0"/>
              <a:t> (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percepută</a:t>
            </a:r>
            <a:r>
              <a:rPr lang="en-US" dirty="0"/>
              <a:t>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rating-</a:t>
            </a:r>
            <a:r>
              <a:rPr lang="en-US" dirty="0" err="1"/>
              <a:t>uri</a:t>
            </a:r>
            <a:r>
              <a:rPr lang="en-US" dirty="0"/>
              <a:t> (</a:t>
            </a:r>
            <a:r>
              <a:rPr lang="en-US" dirty="0" err="1"/>
              <a:t>popularitatea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1434E-8FC7-44F2-361D-AABCCAC927F1}"/>
              </a:ext>
            </a:extLst>
          </p:cNvPr>
          <p:cNvSpPr txBox="1"/>
          <p:nvPr/>
        </p:nvSpPr>
        <p:spPr>
          <a:xfrm>
            <a:off x="5550569" y="3429000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 err="1"/>
              <a:t>Obiective</a:t>
            </a:r>
            <a:r>
              <a:rPr lang="en-US" sz="2800" b="1" dirty="0"/>
              <a:t> de </a:t>
            </a:r>
            <a:r>
              <a:rPr lang="en-US" sz="2800" b="1" dirty="0" err="1"/>
              <a:t>îndeplinit</a:t>
            </a:r>
            <a:r>
              <a:rPr lang="en-US" sz="2800" b="1" dirty="0"/>
              <a:t> </a:t>
            </a:r>
            <a:r>
              <a:rPr lang="en-US" sz="2800" b="1" dirty="0" err="1"/>
              <a:t>în</a:t>
            </a:r>
            <a:r>
              <a:rPr lang="en-US" sz="2800" b="1" dirty="0"/>
              <a:t> continuate: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Realizarea analizei EDA pe acest set de date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/>
              <a:t>Pregătirea datelor text și numerice pentru utilizarea lor în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Aplicarea</a:t>
            </a:r>
            <a:r>
              <a:rPr lang="en-US" sz="2800" dirty="0"/>
              <a:t> </a:t>
            </a:r>
            <a:r>
              <a:rPr lang="en-US" sz="2800" dirty="0" err="1"/>
              <a:t>modelelor</a:t>
            </a:r>
            <a:r>
              <a:rPr lang="en-US" sz="2800" dirty="0"/>
              <a:t> de </a:t>
            </a:r>
            <a:r>
              <a:rPr lang="en-US" sz="2800" dirty="0" err="1"/>
              <a:t>regresie</a:t>
            </a:r>
            <a:r>
              <a:rPr lang="en-US" sz="2800" dirty="0"/>
              <a:t> pe </a:t>
            </a:r>
            <a:r>
              <a:rPr lang="en-US" sz="2800" dirty="0" err="1"/>
              <a:t>setul</a:t>
            </a:r>
            <a:r>
              <a:rPr lang="en-US" sz="2800" dirty="0"/>
              <a:t> de date </a:t>
            </a:r>
            <a:r>
              <a:rPr lang="en-US" sz="2800" dirty="0" err="1"/>
              <a:t>construit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0EB49-0BED-6AE7-43F0-48FC578DCC69}"/>
              </a:ext>
            </a:extLst>
          </p:cNvPr>
          <p:cNvSpPr txBox="1"/>
          <p:nvPr/>
        </p:nvSpPr>
        <p:spPr>
          <a:xfrm>
            <a:off x="838200" y="3429000"/>
            <a:ext cx="471236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 err="1"/>
              <a:t>Obective</a:t>
            </a:r>
            <a:r>
              <a:rPr lang="en-US" sz="2800" b="1" dirty="0"/>
              <a:t> </a:t>
            </a:r>
            <a:r>
              <a:rPr lang="en-US" sz="2800" b="1" dirty="0" err="1"/>
              <a:t>îndeplinite</a:t>
            </a:r>
            <a:r>
              <a:rPr lang="en-US" sz="2800" b="1" dirty="0"/>
              <a:t> </a:t>
            </a:r>
            <a:r>
              <a:rPr lang="en-US" sz="2800" b="1" dirty="0" err="1"/>
              <a:t>în</a:t>
            </a:r>
            <a:r>
              <a:rPr lang="en-US" sz="2800" b="1" dirty="0"/>
              <a:t> </a:t>
            </a:r>
            <a:r>
              <a:rPr lang="en-US" sz="2800" b="1" dirty="0" err="1"/>
              <a:t>această</a:t>
            </a:r>
            <a:r>
              <a:rPr lang="en-US" sz="2800" b="1" dirty="0"/>
              <a:t> </a:t>
            </a:r>
            <a:r>
              <a:rPr lang="en-US" sz="2800" b="1" dirty="0" err="1"/>
              <a:t>etapă</a:t>
            </a:r>
            <a:r>
              <a:rPr lang="en-US" sz="2800" b="1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Colectarea</a:t>
            </a:r>
            <a:r>
              <a:rPr lang="en-US" sz="2800" dirty="0"/>
              <a:t> </a:t>
            </a:r>
            <a:r>
              <a:rPr lang="en-US" sz="2800" dirty="0" err="1"/>
              <a:t>unui</a:t>
            </a:r>
            <a:r>
              <a:rPr lang="en-US" sz="2800" dirty="0"/>
              <a:t> set de date care </a:t>
            </a:r>
            <a:r>
              <a:rPr lang="en-US" sz="2800" dirty="0" err="1"/>
              <a:t>conține</a:t>
            </a:r>
            <a:r>
              <a:rPr lang="en-US" sz="2800" dirty="0"/>
              <a:t> 3000 de </a:t>
            </a:r>
            <a:r>
              <a:rPr lang="en-US" sz="2800" dirty="0" err="1"/>
              <a:t>cărți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Colectarea</a:t>
            </a:r>
            <a:r>
              <a:rPr lang="en-US" sz="2800" dirty="0"/>
              <a:t> a 14 feature-</a:t>
            </a:r>
            <a:r>
              <a:rPr lang="en-US" sz="2800" dirty="0" err="1"/>
              <a:t>uri</a:t>
            </a:r>
            <a:r>
              <a:rPr lang="en-US" sz="2800" dirty="0"/>
              <a:t> </a:t>
            </a:r>
            <a:r>
              <a:rPr lang="en-US" sz="2800" dirty="0" err="1"/>
              <a:t>relevante</a:t>
            </a:r>
            <a:r>
              <a:rPr lang="en-US" sz="2800" dirty="0"/>
              <a:t> </a:t>
            </a:r>
            <a:r>
              <a:rPr lang="en-US" sz="2800" dirty="0" err="1"/>
              <a:t>despre</a:t>
            </a:r>
            <a:r>
              <a:rPr lang="en-US" sz="2800" dirty="0"/>
              <a:t> </a:t>
            </a:r>
            <a:r>
              <a:rPr lang="en-US" sz="2800" dirty="0" err="1"/>
              <a:t>aceste</a:t>
            </a:r>
            <a:r>
              <a:rPr lang="en-US" sz="2800" dirty="0"/>
              <a:t> </a:t>
            </a:r>
            <a:r>
              <a:rPr lang="en-US" sz="2800" dirty="0" err="1"/>
              <a:t>cărți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595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D647-3C94-177F-8D7B-01531006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Colectare</a:t>
            </a:r>
            <a:r>
              <a:rPr lang="en-US" b="1" dirty="0"/>
              <a:t> date - </a:t>
            </a:r>
            <a:r>
              <a:rPr lang="en-US" b="1" dirty="0" err="1"/>
              <a:t>OpenLibrary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8098B-D4DB-2681-0AFA-9E0AE7211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093367"/>
          </a:xfrm>
        </p:spPr>
        <p:txBody>
          <a:bodyPr>
            <a:normAutofit/>
          </a:bodyPr>
          <a:lstStyle/>
          <a:p>
            <a:r>
              <a:rPr lang="en-US" dirty="0" err="1"/>
              <a:t>Datele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obținute</a:t>
            </a:r>
            <a:r>
              <a:rPr lang="en-US" dirty="0"/>
              <a:t> din API-urile </a:t>
            </a:r>
            <a:r>
              <a:rPr lang="en-US" dirty="0" err="1"/>
              <a:t>oficiale</a:t>
            </a:r>
            <a:r>
              <a:rPr lang="en-US" dirty="0"/>
              <a:t> </a:t>
            </a:r>
            <a:r>
              <a:rPr lang="en-US" dirty="0" err="1"/>
              <a:t>OpenLibrary</a:t>
            </a:r>
            <a:r>
              <a:rPr lang="en-US" dirty="0"/>
              <a:t>. </a:t>
            </a:r>
          </a:p>
          <a:p>
            <a:r>
              <a:rPr lang="en-US" dirty="0"/>
              <a:t>Am ales </a:t>
            </a:r>
            <a:r>
              <a:rPr lang="en-US" dirty="0" err="1"/>
              <a:t>acest</a:t>
            </a:r>
            <a:r>
              <a:rPr lang="en-US" dirty="0"/>
              <a:t> site ca </a:t>
            </a:r>
            <a:r>
              <a:rPr lang="en-US" dirty="0" err="1"/>
              <a:t>sursă</a:t>
            </a:r>
            <a:r>
              <a:rPr lang="en-US" dirty="0"/>
              <a:t> de date </a:t>
            </a:r>
            <a:r>
              <a:rPr lang="en-US" dirty="0" err="1"/>
              <a:t>deoarece</a:t>
            </a:r>
            <a:r>
              <a:rPr lang="en-US" dirty="0"/>
              <a:t> are o </a:t>
            </a:r>
            <a:r>
              <a:rPr lang="en-US" dirty="0" err="1"/>
              <a:t>structură</a:t>
            </a:r>
            <a:r>
              <a:rPr lang="en-US" dirty="0"/>
              <a:t> </a:t>
            </a:r>
            <a:r>
              <a:rPr lang="en-US" dirty="0" err="1"/>
              <a:t>bogată</a:t>
            </a:r>
            <a:r>
              <a:rPr lang="en-US" dirty="0"/>
              <a:t>: subjects, people, places, times, </a:t>
            </a:r>
            <a:r>
              <a:rPr lang="en-US" dirty="0" err="1"/>
              <a:t>ediții</a:t>
            </a:r>
            <a:r>
              <a:rPr lang="en-US" dirty="0"/>
              <a:t>, </a:t>
            </a:r>
            <a:r>
              <a:rPr lang="en-US" dirty="0" err="1"/>
              <a:t>ratinguri</a:t>
            </a:r>
            <a:r>
              <a:rPr lang="en-US" dirty="0"/>
              <a:t>.</a:t>
            </a:r>
          </a:p>
          <a:p>
            <a:r>
              <a:rPr lang="en-US" dirty="0" err="1"/>
              <a:t>Colectarea</a:t>
            </a:r>
            <a:r>
              <a:rPr lang="en-US" dirty="0"/>
              <a:t> se </a:t>
            </a:r>
            <a:r>
              <a:rPr lang="en-US" dirty="0" err="1"/>
              <a:t>realizează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API scraping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interogarea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 JSON </a:t>
            </a:r>
            <a:r>
              <a:rPr lang="en-US" dirty="0" err="1"/>
              <a:t>puse</a:t>
            </a:r>
            <a:r>
              <a:rPr lang="en-US" dirty="0"/>
              <a:t> la </a:t>
            </a:r>
            <a:r>
              <a:rPr lang="en-US" dirty="0" err="1"/>
              <a:t>dispoziție</a:t>
            </a:r>
            <a:r>
              <a:rPr lang="en-US" dirty="0"/>
              <a:t> de </a:t>
            </a:r>
            <a:r>
              <a:rPr lang="en-US" dirty="0" err="1"/>
              <a:t>OpenLibrary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C24504-6320-9CB7-0AD5-6C8012F82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927" y="3882189"/>
            <a:ext cx="7844146" cy="261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8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EC49-DC79-E7AD-54ED-0FFAAB6B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8664"/>
          </a:xfrm>
        </p:spPr>
        <p:txBody>
          <a:bodyPr/>
          <a:lstStyle/>
          <a:p>
            <a:pPr algn="ctr"/>
            <a:r>
              <a:rPr lang="en-US" b="1" dirty="0" err="1"/>
              <a:t>Colectare</a:t>
            </a:r>
            <a:r>
              <a:rPr lang="en-US" b="1" dirty="0"/>
              <a:t>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D35A-1DCA-3E2C-1425-9CA05ED4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Endpoint-</a:t>
            </a:r>
            <a:r>
              <a:rPr lang="en-US" b="1" dirty="0" err="1"/>
              <a:t>uri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/</a:t>
            </a:r>
            <a:r>
              <a:rPr lang="en-US" b="1" dirty="0" err="1"/>
              <a:t>search.json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identificare</a:t>
            </a:r>
            <a:r>
              <a:rPr lang="en-US" dirty="0"/>
              <a:t> </a:t>
            </a:r>
            <a:r>
              <a:rPr lang="en-US" dirty="0" err="1"/>
              <a:t>cărți</a:t>
            </a:r>
            <a:endParaRPr lang="en-US" dirty="0"/>
          </a:p>
          <a:p>
            <a:pPr lvl="1"/>
            <a:r>
              <a:rPr lang="en-US" b="1" dirty="0"/>
              <a:t>/works/&lt;id&gt;.</a:t>
            </a:r>
            <a:r>
              <a:rPr lang="en-US" b="1" dirty="0" err="1"/>
              <a:t>json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detalii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lucrare</a:t>
            </a:r>
            <a:r>
              <a:rPr lang="en-US" dirty="0"/>
              <a:t> (subjects, people, places, times)</a:t>
            </a:r>
          </a:p>
          <a:p>
            <a:pPr lvl="1"/>
            <a:r>
              <a:rPr lang="en-US" b="1" dirty="0"/>
              <a:t>/</a:t>
            </a:r>
            <a:r>
              <a:rPr lang="en-US" b="1" dirty="0" err="1"/>
              <a:t>ratings.json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voturi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rating-ul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carte</a:t>
            </a:r>
          </a:p>
          <a:p>
            <a:pPr lvl="1"/>
            <a:r>
              <a:rPr lang="en-US" b="1" dirty="0"/>
              <a:t>/</a:t>
            </a:r>
            <a:r>
              <a:rPr lang="en-US" b="1" dirty="0" err="1"/>
              <a:t>editions.json</a:t>
            </a:r>
            <a:r>
              <a:rPr lang="en-US" dirty="0"/>
              <a:t> – </a:t>
            </a:r>
            <a:r>
              <a:rPr lang="en-US" dirty="0" err="1"/>
              <a:t>informații</a:t>
            </a:r>
            <a:r>
              <a:rPr lang="en-US" dirty="0"/>
              <a:t> </a:t>
            </a:r>
            <a:r>
              <a:rPr lang="en-US" dirty="0" err="1"/>
              <a:t>suplimentare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ediții</a:t>
            </a:r>
            <a:r>
              <a:rPr lang="en-US" dirty="0"/>
              <a:t> (</a:t>
            </a:r>
            <a:r>
              <a:rPr lang="en-US" dirty="0" err="1"/>
              <a:t>număr</a:t>
            </a:r>
            <a:r>
              <a:rPr lang="en-US" dirty="0"/>
              <a:t> de </a:t>
            </a:r>
            <a:r>
              <a:rPr lang="en-US" dirty="0" err="1"/>
              <a:t>pagini</a:t>
            </a:r>
            <a:r>
              <a:rPr lang="en-US" dirty="0"/>
              <a:t>, limbi, publisher, </a:t>
            </a:r>
            <a:r>
              <a:rPr lang="en-US" dirty="0" err="1"/>
              <a:t>locul</a:t>
            </a:r>
            <a:r>
              <a:rPr lang="en-US" dirty="0"/>
              <a:t> </a:t>
            </a:r>
            <a:r>
              <a:rPr lang="en-US" dirty="0" err="1"/>
              <a:t>publicării</a:t>
            </a:r>
            <a:r>
              <a:rPr lang="en-US" dirty="0"/>
              <a:t>, </a:t>
            </a:r>
            <a:r>
              <a:rPr lang="en-US" dirty="0" err="1"/>
              <a:t>serie</a:t>
            </a:r>
            <a:r>
              <a:rPr lang="en-US" dirty="0"/>
              <a:t>).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fr-FR" b="1" dirty="0" err="1"/>
              <a:t>Observație</a:t>
            </a:r>
            <a:r>
              <a:rPr lang="fr-FR" b="1" dirty="0"/>
              <a:t>: </a:t>
            </a:r>
            <a:r>
              <a:rPr lang="fr-FR" dirty="0"/>
              <a:t>Se </a:t>
            </a:r>
            <a:r>
              <a:rPr lang="fr-FR" dirty="0" err="1"/>
              <a:t>colectează</a:t>
            </a:r>
            <a:r>
              <a:rPr lang="fr-FR" dirty="0"/>
              <a:t> </a:t>
            </a:r>
            <a:r>
              <a:rPr lang="fr-FR" dirty="0" err="1"/>
              <a:t>doar</a:t>
            </a:r>
            <a:r>
              <a:rPr lang="fr-FR" dirty="0"/>
              <a:t> date care au rating-</a:t>
            </a:r>
            <a:r>
              <a:rPr lang="fr-FR" dirty="0" err="1"/>
              <a:t>uri</a:t>
            </a:r>
            <a:r>
              <a:rPr lang="fr-F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17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7718-C38D-4EFE-A0FD-DB1D3AEF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64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Feature-</a:t>
            </a:r>
            <a:r>
              <a:rPr lang="en-US" b="1" dirty="0" err="1"/>
              <a:t>uri</a:t>
            </a:r>
            <a:r>
              <a:rPr lang="en-US" b="1" dirty="0"/>
              <a:t> </a:t>
            </a:r>
            <a:r>
              <a:rPr lang="en-US" b="1" dirty="0" err="1"/>
              <a:t>extrase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E8CD-1FB3-DBB9-9972-B4FD82803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6138"/>
            <a:ext cx="10515600" cy="2566737"/>
          </a:xfrm>
        </p:spPr>
        <p:txBody>
          <a:bodyPr>
            <a:normAutofit/>
          </a:bodyPr>
          <a:lstStyle/>
          <a:p>
            <a:r>
              <a:rPr lang="en-US" b="1" dirty="0"/>
              <a:t>5 </a:t>
            </a:r>
            <a:r>
              <a:rPr lang="en-US" b="1" dirty="0" err="1"/>
              <a:t>numerice</a:t>
            </a:r>
            <a:r>
              <a:rPr lang="en-US" dirty="0"/>
              <a:t>: </a:t>
            </a:r>
            <a:r>
              <a:rPr lang="en-US" dirty="0" err="1"/>
              <a:t>first_publish_year</a:t>
            </a:r>
            <a:r>
              <a:rPr lang="en-US" dirty="0"/>
              <a:t>, </a:t>
            </a:r>
            <a:r>
              <a:rPr lang="en-US" dirty="0" err="1"/>
              <a:t>edition_count</a:t>
            </a:r>
            <a:r>
              <a:rPr lang="en-US" dirty="0"/>
              <a:t>, </a:t>
            </a:r>
            <a:r>
              <a:rPr lang="en-US" dirty="0" err="1"/>
              <a:t>number_of_pages_median</a:t>
            </a:r>
            <a:r>
              <a:rPr lang="en-US" dirty="0"/>
              <a:t>, </a:t>
            </a:r>
            <a:r>
              <a:rPr lang="en-US" dirty="0" err="1"/>
              <a:t>ratings_count</a:t>
            </a:r>
            <a:r>
              <a:rPr lang="en-US" dirty="0"/>
              <a:t>, </a:t>
            </a:r>
            <a:r>
              <a:rPr lang="en-US" dirty="0" err="1"/>
              <a:t>ratings_average</a:t>
            </a:r>
            <a:r>
              <a:rPr lang="en-US" dirty="0"/>
              <a:t>.</a:t>
            </a:r>
          </a:p>
          <a:p>
            <a:r>
              <a:rPr lang="en-US" b="1" dirty="0"/>
              <a:t>10 text/</a:t>
            </a:r>
            <a:r>
              <a:rPr lang="en-US" b="1" dirty="0" err="1"/>
              <a:t>categorice</a:t>
            </a:r>
            <a:r>
              <a:rPr lang="en-US" dirty="0"/>
              <a:t>: title, author, subject, </a:t>
            </a:r>
            <a:r>
              <a:rPr lang="en-US" dirty="0" err="1"/>
              <a:t>subject_people</a:t>
            </a:r>
            <a:r>
              <a:rPr lang="en-US" dirty="0"/>
              <a:t>, </a:t>
            </a:r>
            <a:r>
              <a:rPr lang="en-US" dirty="0" err="1"/>
              <a:t>subject_places</a:t>
            </a:r>
            <a:r>
              <a:rPr lang="en-US" dirty="0"/>
              <a:t>, </a:t>
            </a:r>
            <a:r>
              <a:rPr lang="en-US" dirty="0" err="1"/>
              <a:t>subject_times</a:t>
            </a:r>
            <a:r>
              <a:rPr lang="en-US" dirty="0"/>
              <a:t>, language, series, publisher, </a:t>
            </a:r>
            <a:r>
              <a:rPr lang="en-US" dirty="0" err="1"/>
              <a:t>publish_place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87FEA-CFDF-65E6-A802-D7CB1B666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7036"/>
            <a:ext cx="12192000" cy="21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2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F39F-29A5-A83C-C06D-BA5430E2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Probleme</a:t>
            </a:r>
            <a:r>
              <a:rPr lang="en-US" b="1" dirty="0"/>
              <a:t> </a:t>
            </a:r>
            <a:r>
              <a:rPr lang="en-US" b="1" dirty="0" err="1"/>
              <a:t>întâlnite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7C265-13AC-3678-888B-B85FAC51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839" y="1507958"/>
            <a:ext cx="4932107" cy="4669005"/>
          </a:xfrm>
        </p:spPr>
        <p:txBody>
          <a:bodyPr>
            <a:normAutofit/>
          </a:bodyPr>
          <a:lstStyle/>
          <a:p>
            <a:r>
              <a:rPr lang="it-IT" b="1" dirty="0"/>
              <a:t>Valori incorecte (cu zgomot):</a:t>
            </a:r>
          </a:p>
          <a:p>
            <a:pPr lvl="1"/>
            <a:r>
              <a:rPr lang="en-US" dirty="0"/>
              <a:t>publisher: </a:t>
            </a:r>
            <a:r>
              <a:rPr lang="en-US" i="1" dirty="0"/>
              <a:t>"idk"</a:t>
            </a:r>
            <a:r>
              <a:rPr lang="en-US" dirty="0"/>
              <a:t>, </a:t>
            </a:r>
            <a:r>
              <a:rPr lang="en-US" i="1" dirty="0"/>
              <a:t>"xx"</a:t>
            </a:r>
            <a:r>
              <a:rPr lang="en-US" dirty="0"/>
              <a:t>, </a:t>
            </a:r>
            <a:r>
              <a:rPr lang="en-US" i="1" dirty="0"/>
              <a:t>"[publisher not identified]“</a:t>
            </a:r>
          </a:p>
          <a:p>
            <a:pPr lvl="1"/>
            <a:r>
              <a:rPr lang="en-US" dirty="0" err="1"/>
              <a:t>subject_places</a:t>
            </a:r>
            <a:r>
              <a:rPr lang="en-US" dirty="0"/>
              <a:t>: </a:t>
            </a:r>
            <a:r>
              <a:rPr lang="en-US" i="1" dirty="0"/>
              <a:t>"</a:t>
            </a:r>
            <a:r>
              <a:rPr lang="en-US" i="1" dirty="0" err="1"/>
              <a:t>Transilvania</a:t>
            </a:r>
            <a:r>
              <a:rPr lang="en-US" i="1" dirty="0"/>
              <a:t> (Rumania)"</a:t>
            </a:r>
            <a:r>
              <a:rPr lang="en-US" dirty="0"/>
              <a:t>, </a:t>
            </a:r>
            <a:r>
              <a:rPr lang="en-US" i="1" dirty="0"/>
              <a:t>"Transylvania”</a:t>
            </a:r>
          </a:p>
          <a:p>
            <a:pPr lvl="1"/>
            <a:endParaRPr lang="en-US" i="1" dirty="0"/>
          </a:p>
          <a:p>
            <a:r>
              <a:rPr lang="it-IT" b="1" dirty="0"/>
              <a:t>Date inconsistente (în limbi diferite):</a:t>
            </a:r>
          </a:p>
          <a:p>
            <a:pPr lvl="1"/>
            <a:r>
              <a:rPr lang="en-US" dirty="0" err="1"/>
              <a:t>subject_places</a:t>
            </a:r>
            <a:r>
              <a:rPr lang="en-US" dirty="0"/>
              <a:t>: "England", "Ying </a:t>
            </a:r>
            <a:r>
              <a:rPr lang="en-US" dirty="0" err="1"/>
              <a:t>guo</a:t>
            </a:r>
            <a:r>
              <a:rPr lang="en-US" dirty="0"/>
              <a:t>"</a:t>
            </a:r>
            <a:endParaRPr lang="it-IT" dirty="0"/>
          </a:p>
          <a:p>
            <a:endParaRPr lang="it-I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67CF0-9A9D-E03D-6384-1065E283F62C}"/>
              </a:ext>
            </a:extLst>
          </p:cNvPr>
          <p:cNvSpPr txBox="1"/>
          <p:nvPr/>
        </p:nvSpPr>
        <p:spPr>
          <a:xfrm>
            <a:off x="1196686" y="1507958"/>
            <a:ext cx="46357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b="1" dirty="0"/>
              <a:t>Valori lipsă (missing data)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11F8D8-5BA5-53F0-6423-7E198213C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47" y="2041219"/>
            <a:ext cx="6233428" cy="395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1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DB42-9808-C657-97DA-12D7767B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Obiectivele </a:t>
            </a:r>
            <a:r>
              <a:rPr lang="en-US" b="1" dirty="0" err="1"/>
              <a:t>următoare</a:t>
            </a:r>
            <a:r>
              <a:rPr lang="en-US" b="1" dirty="0"/>
              <a:t> ale </a:t>
            </a:r>
            <a:r>
              <a:rPr lang="en-US" b="1" dirty="0" err="1"/>
              <a:t>proiectului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10952-6246-E1CD-6231-487E2E93D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747"/>
            <a:ext cx="10515600" cy="4749216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Curățarea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dirty="0"/>
              <a:t> care au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completate</a:t>
            </a:r>
            <a:r>
              <a:rPr lang="en-US" dirty="0"/>
              <a:t> </a:t>
            </a:r>
            <a:r>
              <a:rPr lang="en-US" dirty="0" err="1"/>
              <a:t>greșite</a:t>
            </a:r>
            <a:r>
              <a:rPr lang="en-US" dirty="0"/>
              <a:t> (ex.: </a:t>
            </a:r>
            <a:r>
              <a:rPr lang="en-US" dirty="0" err="1"/>
              <a:t>pentru</a:t>
            </a:r>
            <a:r>
              <a:rPr lang="en-US" dirty="0"/>
              <a:t> publisher </a:t>
            </a:r>
            <a:r>
              <a:rPr lang="en-US" dirty="0" err="1"/>
              <a:t>există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precum „idk”, „unknown”, „xx” etc.)</a:t>
            </a:r>
          </a:p>
          <a:p>
            <a:r>
              <a:rPr lang="en-US" dirty="0"/>
              <a:t> </a:t>
            </a:r>
            <a:r>
              <a:rPr lang="en-US" b="1" dirty="0" err="1"/>
              <a:t>Completarea</a:t>
            </a:r>
            <a:r>
              <a:rPr lang="en-US" b="1" dirty="0"/>
              <a:t> </a:t>
            </a:r>
            <a:r>
              <a:rPr lang="en-US" b="1" dirty="0" err="1"/>
              <a:t>valorilor</a:t>
            </a:r>
            <a:r>
              <a:rPr lang="en-US" b="1" dirty="0"/>
              <a:t> </a:t>
            </a:r>
            <a:r>
              <a:rPr lang="en-US" b="1" dirty="0" err="1"/>
              <a:t>lipsă</a:t>
            </a:r>
            <a:r>
              <a:rPr lang="en-US" b="1" dirty="0"/>
              <a:t> </a:t>
            </a:r>
            <a:r>
              <a:rPr lang="en-US" dirty="0" err="1"/>
              <a:t>acolo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(ex.: </a:t>
            </a:r>
            <a:r>
              <a:rPr lang="en-US" dirty="0" err="1"/>
              <a:t>number_of_pages_median</a:t>
            </a:r>
            <a:r>
              <a:rPr lang="en-US" dirty="0"/>
              <a:t> – </a:t>
            </a:r>
            <a:r>
              <a:rPr lang="en-US" dirty="0" err="1"/>
              <a:t>imputare</a:t>
            </a:r>
            <a:r>
              <a:rPr lang="en-US" dirty="0"/>
              <a:t> cu </a:t>
            </a:r>
            <a:r>
              <a:rPr lang="en-US" dirty="0" err="1"/>
              <a:t>mediana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)</a:t>
            </a:r>
          </a:p>
          <a:p>
            <a:r>
              <a:rPr lang="en-US" b="1" dirty="0"/>
              <a:t>Analiza EDA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vizualizări</a:t>
            </a:r>
            <a:r>
              <a:rPr lang="en-US" dirty="0"/>
              <a:t> ale </a:t>
            </a:r>
            <a:r>
              <a:rPr lang="en-US" dirty="0" err="1"/>
              <a:t>datelor</a:t>
            </a:r>
            <a:endParaRPr lang="en-US" dirty="0"/>
          </a:p>
          <a:p>
            <a:r>
              <a:rPr lang="en-US" b="1" dirty="0" err="1"/>
              <a:t>Convertirea</a:t>
            </a:r>
            <a:r>
              <a:rPr lang="en-US" b="1" dirty="0"/>
              <a:t> </a:t>
            </a:r>
            <a:r>
              <a:rPr lang="en-US" b="1" dirty="0" err="1"/>
              <a:t>datelor</a:t>
            </a:r>
            <a:r>
              <a:rPr lang="en-US" b="1" dirty="0"/>
              <a:t> text </a:t>
            </a:r>
            <a:r>
              <a:rPr lang="en-US" dirty="0"/>
              <a:t>(precum </a:t>
            </a:r>
            <a:r>
              <a:rPr lang="en-US" dirty="0" err="1"/>
              <a:t>subiectele</a:t>
            </a:r>
            <a:r>
              <a:rPr lang="en-US" dirty="0"/>
              <a:t> </a:t>
            </a:r>
            <a:r>
              <a:rPr lang="en-US" dirty="0" err="1"/>
              <a:t>cărților</a:t>
            </a:r>
            <a:r>
              <a:rPr lang="en-US" dirty="0"/>
              <a:t>)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en-US" dirty="0" err="1"/>
              <a:t>numerice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TF-IDF(Term Frequency – Inverse Document Frequency)</a:t>
            </a:r>
          </a:p>
          <a:p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b="1" dirty="0"/>
              <a:t>model de </a:t>
            </a:r>
            <a:r>
              <a:rPr lang="en-US" b="1" dirty="0" err="1"/>
              <a:t>regresie</a:t>
            </a:r>
            <a:r>
              <a:rPr lang="en-US" b="1" dirty="0"/>
              <a:t> (Random Forest)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prezice</a:t>
            </a:r>
            <a:r>
              <a:rPr lang="en-US" dirty="0"/>
              <a:t> </a:t>
            </a:r>
            <a:r>
              <a:rPr lang="en-US" dirty="0" err="1"/>
              <a:t>ratings_count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ratings_average</a:t>
            </a:r>
            <a:endParaRPr lang="en-US" dirty="0"/>
          </a:p>
          <a:p>
            <a:r>
              <a:rPr lang="en-US" b="1" dirty="0" err="1"/>
              <a:t>Evaluarea</a:t>
            </a:r>
            <a:r>
              <a:rPr lang="en-US" b="1" dirty="0"/>
              <a:t> </a:t>
            </a:r>
            <a:r>
              <a:rPr lang="en-US" b="1" dirty="0" err="1"/>
              <a:t>performanței</a:t>
            </a:r>
            <a:r>
              <a:rPr lang="en-US" b="1" dirty="0"/>
              <a:t> </a:t>
            </a:r>
            <a:r>
              <a:rPr lang="en-US" dirty="0" err="1"/>
              <a:t>modelului</a:t>
            </a:r>
            <a:r>
              <a:rPr lang="en-US" dirty="0"/>
              <a:t> (</a:t>
            </a:r>
            <a:r>
              <a:rPr lang="en-US" dirty="0" err="1"/>
              <a:t>folosind</a:t>
            </a:r>
            <a:r>
              <a:rPr lang="en-US" dirty="0"/>
              <a:t> MAE </a:t>
            </a:r>
            <a:r>
              <a:rPr lang="en-US" dirty="0" err="1"/>
              <a:t>și</a:t>
            </a:r>
            <a:r>
              <a:rPr lang="en-US" dirty="0"/>
              <a:t> R²)</a:t>
            </a:r>
          </a:p>
        </p:txBody>
      </p:sp>
    </p:spTree>
    <p:extLst>
      <p:ext uri="{BB962C8B-B14F-4D97-AF65-F5344CB8AC3E}">
        <p14:creationId xmlns:p14="http://schemas.microsoft.com/office/powerpoint/2010/main" val="2921650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474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 Predictia popularitatii cartilor</vt:lpstr>
      <vt:lpstr>Descriere</vt:lpstr>
      <vt:lpstr>Colectare date - OpenLibrary</vt:lpstr>
      <vt:lpstr>Colectare date</vt:lpstr>
      <vt:lpstr>Feature-uri extrase</vt:lpstr>
      <vt:lpstr>Probleme întâlnite</vt:lpstr>
      <vt:lpstr>Obiectivele următoare ale proiectului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sf</dc:creator>
  <cp:lastModifiedBy>sf</cp:lastModifiedBy>
  <cp:revision>9</cp:revision>
  <dcterms:created xsi:type="dcterms:W3CDTF">2025-11-19T12:58:00Z</dcterms:created>
  <dcterms:modified xsi:type="dcterms:W3CDTF">2025-11-19T15:20:14Z</dcterms:modified>
</cp:coreProperties>
</file>